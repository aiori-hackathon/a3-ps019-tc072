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89" dt="2026-10-10T18:21:57.026"/>
    <p1510:client id="{961F609A-3339-8C4C-054E-83BDFC51EB39}" v="436" dt="2026-10-10T16:49:26.3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922" y="9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7CCF7-83EC-4768-901E-95BC09D41C4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E6011-6834-4F2C-A7D2-2F75149C0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3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E6011-6834-4F2C-A7D2-2F75149C01C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317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E6011-6834-4F2C-A7D2-2F75149C01C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8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E6011-6834-4F2C-A7D2-2F75149C01C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80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200733"/>
            <a:ext cx="4429125" cy="652102"/>
          </a:xfrm>
          <a:prstGeom prst="rect">
            <a:avLst/>
          </a:prstGeom>
        </p:spPr>
        <p:txBody>
          <a:bodyPr vert="horz" wrap="square" lIns="0" tIns="9969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US" sz="2050" spc="-45" dirty="0"/>
              <a:t>A3-</a:t>
            </a:r>
            <a:r>
              <a:rPr lang="en-US" sz="2000" dirty="0"/>
              <a:t>PS019</a:t>
            </a:r>
            <a:r>
              <a:rPr lang="en-US" sz="2050" spc="-80" dirty="0"/>
              <a:t>-</a:t>
            </a:r>
            <a:r>
              <a:rPr lang="en-US" sz="2050" spc="-10" dirty="0"/>
              <a:t>TC072</a:t>
            </a:r>
            <a:endParaRPr lang="en-US" sz="2050" b="0" dirty="0">
              <a:ea typeface="Batang"/>
              <a:cs typeface="Angsana New"/>
            </a:endParaRPr>
          </a:p>
          <a:p>
            <a:pPr marL="12700">
              <a:spcBef>
                <a:spcPts val="385"/>
              </a:spcBef>
            </a:pPr>
            <a:r>
              <a:rPr lang="en-US" sz="1200" spc="-100" dirty="0">
                <a:solidFill>
                  <a:srgbClr val="000000"/>
                </a:solidFill>
                <a:ea typeface="Calibri"/>
                <a:cs typeface="Calibri"/>
              </a:rPr>
              <a:t>NDEMS: National Digital Evidence Management 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93" y="2132387"/>
            <a:ext cx="1582420" cy="956030"/>
          </a:xfrm>
          <a:prstGeom prst="rect">
            <a:avLst/>
          </a:prstGeom>
        </p:spPr>
        <p:txBody>
          <a:bodyPr vert="horz" wrap="square" lIns="0" tIns="32384" rIns="0" bIns="0" rtlCol="0" anchor="t">
            <a:spAutoFit/>
          </a:bodyPr>
          <a:lstStyle/>
          <a:p>
            <a:pPr marL="12700">
              <a:spcBef>
                <a:spcPts val="254"/>
              </a:spcBef>
            </a:pPr>
            <a:r>
              <a:rPr lang="en-US" sz="1000" spc="-100" dirty="0">
                <a:latin typeface="Century Gothic"/>
                <a:ea typeface="Calibri"/>
                <a:cs typeface="Calibri"/>
              </a:rPr>
              <a:t>Arun Bharti | arunpbt1025</a:t>
            </a:r>
          </a:p>
          <a:p>
            <a:pPr marL="12700">
              <a:spcBef>
                <a:spcPts val="254"/>
              </a:spcBef>
            </a:pPr>
            <a:r>
              <a:rPr lang="en-US" sz="1000" spc="-100" dirty="0">
                <a:latin typeface="Century Gothic"/>
                <a:ea typeface="Calibri"/>
                <a:cs typeface="Calibri"/>
              </a:rPr>
              <a:t>Anushka Pandit | anushka2108</a:t>
            </a:r>
            <a:endParaRPr lang="en-US" sz="800" dirty="0">
              <a:latin typeface="Century Gothic"/>
              <a:ea typeface="Calibri"/>
              <a:cs typeface="Calibri"/>
            </a:endParaRPr>
          </a:p>
          <a:p>
            <a:pPr marL="12700">
              <a:spcBef>
                <a:spcPts val="254"/>
              </a:spcBef>
            </a:pPr>
            <a:endParaRPr lang="en-US" sz="800" dirty="0">
              <a:latin typeface="Century Gothic"/>
              <a:cs typeface="Century Gothic"/>
            </a:endParaRPr>
          </a:p>
          <a:p>
            <a:pPr marL="12700">
              <a:spcBef>
                <a:spcPts val="254"/>
              </a:spcBef>
            </a:pPr>
            <a:r>
              <a:rPr sz="800" dirty="0">
                <a:latin typeface="Century Gothic"/>
                <a:cs typeface="Century Gothic"/>
              </a:rPr>
              <a:t>AIORI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Hackathon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50" dirty="0">
                <a:latin typeface="Century Gothic"/>
                <a:cs typeface="Century Gothic"/>
              </a:rPr>
              <a:t>3</a:t>
            </a:r>
            <a:endParaRPr sz="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900" spc="-35" dirty="0">
                <a:latin typeface="Century Gothic"/>
                <a:cs typeface="Century Gothic"/>
              </a:rPr>
              <a:t>October</a:t>
            </a:r>
            <a:r>
              <a:rPr sz="900" spc="-10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5,</a:t>
            </a:r>
            <a:r>
              <a:rPr sz="900" spc="-5" dirty="0">
                <a:latin typeface="Century Gothic"/>
                <a:cs typeface="Century Gothic"/>
              </a:rPr>
              <a:t> </a:t>
            </a:r>
            <a:r>
              <a:rPr sz="900" spc="-20" dirty="0">
                <a:latin typeface="Century Gothic"/>
                <a:cs typeface="Century Gothic"/>
              </a:rPr>
              <a:t>2026</a:t>
            </a:r>
            <a:endParaRPr sz="9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333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Abstract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610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80">
                <a:solidFill>
                  <a:srgbClr val="0000DC"/>
                </a:solidFill>
                <a:latin typeface="Century Gothic"/>
                <a:cs typeface="Century Gothic"/>
              </a:rPr>
              <a:t>Problem</a:t>
            </a:r>
            <a:r>
              <a:rPr sz="1400" b="1" spc="3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55">
                <a:solidFill>
                  <a:srgbClr val="0000DC"/>
                </a:solidFill>
                <a:latin typeface="Century Gothic"/>
                <a:cs typeface="Century Gothic"/>
              </a:rPr>
              <a:t>Description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711878"/>
            <a:ext cx="5205730" cy="1899238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algn="l"/>
            <a:r>
              <a:rPr lang="en-US" sz="1100" b="1" spc="-10" dirty="0"/>
              <a:t>Citizen Privacy Leaks (DPDPA 2023):</a:t>
            </a:r>
          </a:p>
          <a:p>
            <a:pPr algn="l"/>
            <a:r>
              <a:rPr lang="en-US" sz="1100" spc="-10" dirty="0"/>
              <a:t>Case files and chat logs often contain personal details without automatic detection or redaction.</a:t>
            </a:r>
            <a:endParaRPr lang="en-US" dirty="0"/>
          </a:p>
          <a:p>
            <a:pPr algn="l"/>
            <a:r>
              <a:rPr lang="en-US" sz="1100" b="1" spc="-10" dirty="0"/>
              <a:t>Risk of Evidence Tampering: </a:t>
            </a:r>
          </a:p>
          <a:p>
            <a:pPr algn="l"/>
            <a:r>
              <a:rPr lang="en-US" sz="1100" spc="-10" dirty="0"/>
              <a:t>Normal storage like pen drives and local servers cannot prove if a file was edited or altered.</a:t>
            </a:r>
            <a:endParaRPr lang="en-US" dirty="0"/>
          </a:p>
          <a:p>
            <a:pPr algn="l"/>
            <a:r>
              <a:rPr lang="en-US" sz="1100" b="1" spc="-10" dirty="0"/>
              <a:t>Slow Court Approval (BSA 2023 Sec 63): </a:t>
            </a:r>
            <a:endParaRPr lang="en-US" dirty="0"/>
          </a:p>
          <a:p>
            <a:pPr algn="l"/>
            <a:r>
              <a:rPr lang="en-US" sz="1100" spc="-10" dirty="0"/>
              <a:t>Proving evidence authenticity manually in court takes too much time and effort.  </a:t>
            </a:r>
            <a:endParaRPr lang="en-US" dirty="0"/>
          </a:p>
          <a:p>
            <a:pPr marL="12700">
              <a:spcBef>
                <a:spcPts val="90"/>
              </a:spcBef>
            </a:pPr>
            <a:r>
              <a:rPr lang="en-US" sz="1100" b="1" spc="-10" dirty="0"/>
              <a:t>No Verifiable Record:</a:t>
            </a:r>
            <a:r>
              <a:rPr lang="en-US" sz="1100" spc="-10" dirty="0"/>
              <a:t> </a:t>
            </a:r>
            <a:endParaRPr lang="en-US" dirty="0"/>
          </a:p>
          <a:p>
            <a:pPr marL="12700">
              <a:spcBef>
                <a:spcPts val="90"/>
              </a:spcBef>
            </a:pPr>
            <a:r>
              <a:rPr lang="en-US" sz="1100" spc="-10" dirty="0"/>
              <a:t>Existing tools scan data but cannot create an unchangeable, permanent proof of evidence history.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239048" y="3050373"/>
            <a:ext cx="1752599" cy="1667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spc="10">
                <a:solidFill>
                  <a:srgbClr val="0000DC"/>
                </a:solidFill>
                <a:latin typeface="Century Gothic"/>
                <a:cs typeface="Arial Narrow"/>
              </a:rPr>
              <a:t>A.Bharti 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A3-</a:t>
            </a:r>
            <a:r>
              <a:rPr lang="en-US" sz="600" b="1" u="sng" spc="-10">
                <a:solidFill>
                  <a:srgbClr val="0000DC"/>
                </a:solidFill>
                <a:latin typeface="Century Gothic"/>
                <a:cs typeface="Arial Narrow"/>
              </a:rPr>
              <a:t>PS019-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TC072</a:t>
            </a:r>
            <a:r>
              <a:rPr sz="600" b="1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2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46735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Background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9448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10">
                <a:solidFill>
                  <a:srgbClr val="0000DC"/>
                </a:solidFill>
                <a:latin typeface="Century Gothic"/>
                <a:cs typeface="Century Gothic"/>
              </a:rPr>
              <a:t>Background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600" y="713318"/>
            <a:ext cx="5486399" cy="2124492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200" b="1" spc="-15" dirty="0"/>
              <a:t>The Urgent Need for Tamper-Proof Evidence and Privacy Compliance</a:t>
            </a:r>
            <a:endParaRPr lang="en-US" sz="1200" b="1" spc="-15" dirty="0">
              <a:solidFill>
                <a:srgbClr val="000000"/>
              </a:solidFill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lang="en-US" sz="1100" b="1" spc="-15" dirty="0"/>
          </a:p>
          <a:p>
            <a:pPr algn="l"/>
            <a:r>
              <a:rPr lang="en-US" sz="1100" b="1" spc="-15" dirty="0"/>
              <a:t>Massive Digital Evidence Growth: </a:t>
            </a:r>
            <a:endParaRPr lang="en-US" dirty="0"/>
          </a:p>
          <a:p>
            <a:pPr algn="l"/>
            <a:r>
              <a:rPr lang="en-US" sz="1100" spc="-15" dirty="0"/>
              <a:t>Police and investigative agencies process terabytes of digital logs and disk images daily, making manual inspection impossible.</a:t>
            </a:r>
            <a:endParaRPr lang="en-US" dirty="0"/>
          </a:p>
          <a:p>
            <a:pPr algn="l"/>
            <a:r>
              <a:rPr lang="en-US" sz="1100" b="1" spc="-15" dirty="0"/>
              <a:t>Strict Legal Pressure:</a:t>
            </a:r>
            <a:endParaRPr lang="en-US" dirty="0"/>
          </a:p>
          <a:p>
            <a:pPr algn="l"/>
            <a:r>
              <a:rPr lang="en-US" sz="1100" spc="-15" dirty="0"/>
              <a:t> Investigators must redact citizen personal data under DPDPA 2023 while proving strict electronic evidence authenticity under BSA 2023 (Section 63).</a:t>
            </a:r>
            <a:endParaRPr lang="en-US" dirty="0"/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b="1" spc="-15" dirty="0"/>
              <a:t>Broken Tool Ecosystem:</a:t>
            </a:r>
            <a:r>
              <a:rPr lang="en-US" sz="1100" spc="-15" dirty="0"/>
              <a:t> </a:t>
            </a:r>
            <a:endParaRPr lang="en-US" dirty="0"/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spc="-15" dirty="0"/>
              <a:t>Current forensics tools only inspect raw files—they completely lack an automated bridge 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spc="-15" dirty="0"/>
              <a:t>to discover private data and anchor chain-of-custody onto an immutable ledger.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lang="en-US" sz="1100" b="1" spc="-15" dirty="0"/>
          </a:p>
        </p:txBody>
      </p:sp>
      <p:sp>
        <p:nvSpPr>
          <p:cNvPr id="6" name="object 6"/>
          <p:cNvSpPr txBox="1"/>
          <p:nvPr/>
        </p:nvSpPr>
        <p:spPr>
          <a:xfrm>
            <a:off x="239293" y="3055155"/>
            <a:ext cx="1670917" cy="1667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spc="-60">
                <a:solidFill>
                  <a:srgbClr val="0000DC"/>
                </a:solidFill>
                <a:latin typeface="Century Gothic"/>
                <a:cs typeface="Century Gothic"/>
              </a:rPr>
              <a:t>A.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1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lang="en-US" sz="600" spc="-20">
                <a:solidFill>
                  <a:srgbClr val="0000DC"/>
                </a:solidFill>
                <a:latin typeface="Century Gothic"/>
                <a:cs typeface="Century Gothic"/>
              </a:rPr>
              <a:t> 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A3-</a:t>
            </a:r>
            <a:r>
              <a:rPr lang="en-US" sz="600" b="1" u="sng" spc="-10">
                <a:solidFill>
                  <a:srgbClr val="0000DC"/>
                </a:solidFill>
                <a:latin typeface="Century Gothic"/>
                <a:cs typeface="Arial Narrow"/>
              </a:rPr>
              <a:t>PS019-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TC072</a:t>
            </a:r>
            <a:r>
              <a:rPr sz="600" b="1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3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9271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Literature</a:t>
            </a:r>
            <a:r>
              <a:rPr sz="600" b="1" spc="3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114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&amp;</a:t>
            </a:r>
            <a:r>
              <a:rPr sz="600" b="1" spc="3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RFC</a:t>
            </a:r>
            <a:r>
              <a:rPr sz="600" b="1" spc="3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Review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936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20">
                <a:solidFill>
                  <a:srgbClr val="0000DC"/>
                </a:solidFill>
                <a:latin typeface="Century Gothic"/>
                <a:cs typeface="Century Gothic"/>
              </a:rPr>
              <a:t>Literature</a:t>
            </a:r>
            <a:r>
              <a:rPr sz="1400" b="1" spc="-3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3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70">
                <a:solidFill>
                  <a:srgbClr val="0000DC"/>
                </a:solidFill>
                <a:latin typeface="Century Gothic"/>
                <a:cs typeface="Century Gothic"/>
              </a:rPr>
              <a:t>RFC</a:t>
            </a:r>
            <a:r>
              <a:rPr sz="1400" b="1" spc="-25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>
                <a:solidFill>
                  <a:srgbClr val="0000DC"/>
                </a:solidFill>
                <a:latin typeface="Century Gothic"/>
                <a:cs typeface="Century Gothic"/>
              </a:rPr>
              <a:t>Review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750077"/>
            <a:ext cx="5161915" cy="77431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b="1" spc="-105" dirty="0"/>
              <a:t>Evaluation of Relevant Security Standards and Forensics Frameworks</a:t>
            </a:r>
            <a:endParaRPr lang="en-US" sz="1100" b="1" spc="-15" dirty="0">
              <a:solidFill>
                <a:srgbClr val="000000"/>
              </a:solidFill>
            </a:endParaRPr>
          </a:p>
          <a:p>
            <a:pPr marL="12700" marR="50165">
              <a:lnSpc>
                <a:spcPct val="102600"/>
              </a:lnSpc>
              <a:spcBef>
                <a:spcPts val="1000"/>
              </a:spcBef>
            </a:pPr>
            <a:endParaRPr lang="en-US" sz="1100" spc="-95" dirty="0">
              <a:latin typeface="Century Gothic"/>
              <a:cs typeface="Century Gothic"/>
            </a:endParaRPr>
          </a:p>
          <a:p>
            <a:pPr marL="12700" marR="50165">
              <a:lnSpc>
                <a:spcPct val="102600"/>
              </a:lnSpc>
              <a:spcBef>
                <a:spcPts val="1000"/>
              </a:spcBef>
            </a:pPr>
            <a:endParaRPr lang="en-US" sz="1100" spc="-95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70917" cy="1667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spc="-60">
                <a:solidFill>
                  <a:srgbClr val="0000DC"/>
                </a:solidFill>
                <a:latin typeface="Century Gothic"/>
                <a:cs typeface="Century Gothic"/>
              </a:rPr>
              <a:t>A.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1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lang="en-US" sz="600" spc="-20">
                <a:solidFill>
                  <a:srgbClr val="0000DC"/>
                </a:solidFill>
                <a:latin typeface="Century Gothic"/>
                <a:cs typeface="Century Gothic"/>
              </a:rPr>
              <a:t> 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A3-</a:t>
            </a:r>
            <a:r>
              <a:rPr lang="en-US" sz="600" b="1" u="sng" spc="-10">
                <a:solidFill>
                  <a:srgbClr val="0000DC"/>
                </a:solidFill>
                <a:latin typeface="Century Gothic"/>
                <a:cs typeface="Arial Narrow"/>
              </a:rPr>
              <a:t>PS019-</a:t>
            </a:r>
            <a:r>
              <a:rPr lang="en-US" sz="600" b="1" u="sng">
                <a:solidFill>
                  <a:srgbClr val="0000DC"/>
                </a:solidFill>
                <a:latin typeface="Century Gothic"/>
                <a:cs typeface="Arial Narrow"/>
              </a:rPr>
              <a:t>TC072</a:t>
            </a:r>
            <a:r>
              <a:rPr sz="600" b="1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4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1ACAA4-3AC7-52DE-BE61-B7E58D0C0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615" y="2670129"/>
            <a:ext cx="207997" cy="1539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9366CD-A6E5-22FA-E186-816A0A358D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" t="28473" r="4352" b="8708"/>
          <a:stretch/>
        </p:blipFill>
        <p:spPr>
          <a:xfrm>
            <a:off x="229770" y="942976"/>
            <a:ext cx="5204245" cy="20383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706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Proposed</a:t>
            </a:r>
            <a:r>
              <a:rPr sz="600" b="1" spc="3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45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r>
              <a:rPr sz="1400" b="1" spc="25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>
                <a:solidFill>
                  <a:srgbClr val="0000DC"/>
                </a:solidFill>
                <a:latin typeface="Century Gothic"/>
                <a:cs typeface="Century Gothic"/>
              </a:rPr>
              <a:t>Solution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515682"/>
            <a:ext cx="5075555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b="1" spc="-70" dirty="0">
                <a:latin typeface="Century Gothic"/>
                <a:cs typeface="Century Gothic"/>
              </a:rPr>
              <a:t>Automated, Privacy-Preserving Digital Forensics for DPDPA &amp; BSA 2023 Compliance</a:t>
            </a:r>
            <a:endParaRPr lang="en-IN" sz="1100" b="1" spc="-1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7234"/>
            <a:ext cx="163237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PS0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u="sng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5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7BE50A-474C-C783-C04C-C83ECA69B9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" t="21205" r="1625" b="7645"/>
          <a:stretch/>
        </p:blipFill>
        <p:spPr>
          <a:xfrm>
            <a:off x="100012" y="733425"/>
            <a:ext cx="5572125" cy="229076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47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r>
              <a:rPr sz="600" b="1" spc="9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Optimization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80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60">
                <a:solidFill>
                  <a:srgbClr val="0000DC"/>
                </a:solidFill>
                <a:latin typeface="Century Gothic"/>
                <a:cs typeface="Century Gothic"/>
              </a:rPr>
              <a:t>Optimization</a:t>
            </a:r>
            <a:r>
              <a:rPr sz="140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5963"/>
            <a:ext cx="167078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PS0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6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56566C-B2FB-4645-41F7-78371668B3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" t="28378" r="1676" b="11233"/>
          <a:stretch/>
        </p:blipFill>
        <p:spPr>
          <a:xfrm>
            <a:off x="5081" y="535597"/>
            <a:ext cx="5755640" cy="236508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93" y="-20564"/>
            <a:ext cx="2574290" cy="4629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90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400" b="1" spc="-20">
                <a:solidFill>
                  <a:srgbClr val="0000DC"/>
                </a:solidFill>
                <a:latin typeface="Century Gothic"/>
                <a:cs typeface="Century Gothic"/>
              </a:rPr>
              <a:t>Solution </a:t>
            </a:r>
            <a:r>
              <a:rPr sz="1400" b="1" spc="-85">
                <a:solidFill>
                  <a:srgbClr val="0000DC"/>
                </a:solidFill>
                <a:latin typeface="Century Gothic"/>
                <a:cs typeface="Century Gothic"/>
              </a:rPr>
              <a:t>Architecture</a:t>
            </a:r>
            <a:r>
              <a:rPr sz="1400" b="1" spc="-15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15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>
                <a:solidFill>
                  <a:srgbClr val="0000DC"/>
                </a:solidFill>
                <a:latin typeface="Century Gothic"/>
                <a:cs typeface="Century Gothic"/>
              </a:rPr>
              <a:t>Design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13309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Architecture</a:t>
            </a:r>
            <a:r>
              <a:rPr sz="600" b="1" spc="1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Design</a:t>
            </a:r>
            <a:r>
              <a:rPr sz="600" b="1" spc="1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(UML</a:t>
            </a:r>
            <a:r>
              <a:rPr sz="600" b="1" spc="15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Diagram)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0090" y="2676606"/>
            <a:ext cx="2280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60">
                <a:latin typeface="Century Gothic"/>
                <a:cs typeface="Century Gothic"/>
              </a:rPr>
              <a:t>System</a:t>
            </a:r>
            <a:r>
              <a:rPr sz="1000">
                <a:latin typeface="Century Gothic"/>
                <a:cs typeface="Century Gothic"/>
              </a:rPr>
              <a:t> </a:t>
            </a:r>
            <a:r>
              <a:rPr sz="1000" spc="-80">
                <a:latin typeface="Century Gothic"/>
                <a:cs typeface="Century Gothic"/>
              </a:rPr>
              <a:t>Architecture</a:t>
            </a:r>
            <a:r>
              <a:rPr sz="1000">
                <a:latin typeface="Century Gothic"/>
                <a:cs typeface="Century Gothic"/>
              </a:rPr>
              <a:t> </a:t>
            </a:r>
            <a:r>
              <a:rPr sz="1000" spc="-25">
                <a:latin typeface="Century Gothic"/>
                <a:cs typeface="Century Gothic"/>
              </a:rPr>
              <a:t>UML</a:t>
            </a:r>
            <a:r>
              <a:rPr sz="1000">
                <a:latin typeface="Century Gothic"/>
                <a:cs typeface="Century Gothic"/>
              </a:rPr>
              <a:t> </a:t>
            </a:r>
            <a:r>
              <a:rPr sz="1000" spc="-75">
                <a:latin typeface="Century Gothic"/>
                <a:cs typeface="Century Gothic"/>
              </a:rPr>
              <a:t>Diagram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7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47D759-9D9D-0A29-6CC9-F3DE8102D1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14" b="4687"/>
          <a:stretch/>
        </p:blipFill>
        <p:spPr>
          <a:xfrm>
            <a:off x="148684" y="582115"/>
            <a:ext cx="5332103" cy="2414150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DF9B53E3-3F04-3DF8-B4AD-A33DFC961BF5}"/>
              </a:ext>
            </a:extLst>
          </p:cNvPr>
          <p:cNvSpPr txBox="1"/>
          <p:nvPr/>
        </p:nvSpPr>
        <p:spPr>
          <a:xfrm>
            <a:off x="239293" y="3105963"/>
            <a:ext cx="165554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019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u="sng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11690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850" algn="l"/>
              </a:tabLst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3</a:t>
            </a: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</a:rPr>
              <a:t>	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Data</a:t>
            </a:r>
            <a:r>
              <a:rPr sz="600" b="1" spc="2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Flow</a:t>
            </a:r>
            <a:r>
              <a:rPr sz="600" b="1" spc="2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Diagram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06208"/>
            <a:ext cx="4951730" cy="74485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pc="-114"/>
              <a:t>Data</a:t>
            </a:r>
            <a:r>
              <a:rPr spc="-30"/>
              <a:t> </a:t>
            </a:r>
            <a:r>
              <a:rPr spc="-20"/>
              <a:t>Flow</a:t>
            </a:r>
            <a:r>
              <a:rPr spc="-30"/>
              <a:t> </a:t>
            </a:r>
            <a:r>
              <a:rPr spc="-10"/>
              <a:t>Diagram</a:t>
            </a:r>
          </a:p>
          <a:p>
            <a:pPr marL="12700" marR="5080">
              <a:lnSpc>
                <a:spcPct val="102699"/>
              </a:lnSpc>
              <a:spcBef>
                <a:spcPts val="509"/>
              </a:spcBef>
            </a:pPr>
            <a:r>
              <a:rPr sz="1100" spc="-95">
                <a:solidFill>
                  <a:srgbClr val="000000"/>
                </a:solidFill>
              </a:rPr>
              <a:t>Overview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55">
                <a:solidFill>
                  <a:srgbClr val="000000"/>
                </a:solidFill>
              </a:rPr>
              <a:t>of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65">
                <a:solidFill>
                  <a:srgbClr val="000000"/>
                </a:solidFill>
              </a:rPr>
              <a:t>the</a:t>
            </a:r>
            <a:r>
              <a:rPr sz="1100" spc="-5">
                <a:solidFill>
                  <a:srgbClr val="000000"/>
                </a:solidFill>
              </a:rPr>
              <a:t> </a:t>
            </a:r>
            <a:r>
              <a:rPr sz="1100" spc="-75">
                <a:solidFill>
                  <a:srgbClr val="000000"/>
                </a:solidFill>
              </a:rPr>
              <a:t>architecture.</a:t>
            </a:r>
            <a:r>
              <a:rPr sz="1100" spc="40">
                <a:solidFill>
                  <a:srgbClr val="000000"/>
                </a:solidFill>
              </a:rPr>
              <a:t> </a:t>
            </a:r>
            <a:r>
              <a:rPr sz="1100" spc="-90">
                <a:solidFill>
                  <a:srgbClr val="000000"/>
                </a:solidFill>
              </a:rPr>
              <a:t>Include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65">
                <a:solidFill>
                  <a:srgbClr val="000000"/>
                </a:solidFill>
              </a:rPr>
              <a:t>the</a:t>
            </a:r>
            <a:r>
              <a:rPr sz="1100" spc="-5">
                <a:solidFill>
                  <a:srgbClr val="000000"/>
                </a:solidFill>
              </a:rPr>
              <a:t> </a:t>
            </a:r>
            <a:r>
              <a:rPr sz="1100" spc="-45">
                <a:solidFill>
                  <a:srgbClr val="000000"/>
                </a:solidFill>
              </a:rPr>
              <a:t>flow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85">
                <a:solidFill>
                  <a:srgbClr val="000000"/>
                </a:solidFill>
              </a:rPr>
              <a:t>chart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120">
                <a:solidFill>
                  <a:srgbClr val="000000"/>
                </a:solidFill>
              </a:rPr>
              <a:t>diagram</a:t>
            </a:r>
            <a:r>
              <a:rPr sz="1100" spc="-5">
                <a:solidFill>
                  <a:srgbClr val="000000"/>
                </a:solidFill>
              </a:rPr>
              <a:t> </a:t>
            </a:r>
            <a:r>
              <a:rPr sz="1100" spc="-120">
                <a:solidFill>
                  <a:srgbClr val="000000"/>
                </a:solidFill>
              </a:rPr>
              <a:t>created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55">
                <a:solidFill>
                  <a:srgbClr val="000000"/>
                </a:solidFill>
              </a:rPr>
              <a:t>earlier.</a:t>
            </a:r>
            <a:r>
              <a:rPr sz="1100" spc="40">
                <a:solidFill>
                  <a:srgbClr val="000000"/>
                </a:solidFill>
              </a:rPr>
              <a:t> </a:t>
            </a:r>
            <a:r>
              <a:rPr sz="1100" spc="-30">
                <a:solidFill>
                  <a:srgbClr val="000000"/>
                </a:solidFill>
              </a:rPr>
              <a:t>Visual: </a:t>
            </a:r>
            <a:r>
              <a:rPr sz="1100" spc="-90">
                <a:solidFill>
                  <a:srgbClr val="000000"/>
                </a:solidFill>
              </a:rPr>
              <a:t>Diagrams</a:t>
            </a:r>
            <a:r>
              <a:rPr sz="1100" spc="-15">
                <a:solidFill>
                  <a:srgbClr val="000000"/>
                </a:solidFill>
              </a:rPr>
              <a:t> </a:t>
            </a:r>
            <a:r>
              <a:rPr sz="1100" spc="-50">
                <a:solidFill>
                  <a:srgbClr val="000000"/>
                </a:solidFill>
              </a:rPr>
              <a:t>or</a:t>
            </a:r>
            <a:r>
              <a:rPr sz="1100" spc="-10">
                <a:solidFill>
                  <a:srgbClr val="000000"/>
                </a:solidFill>
              </a:rPr>
              <a:t> </a:t>
            </a:r>
            <a:r>
              <a:rPr sz="1100" spc="-80">
                <a:solidFill>
                  <a:srgbClr val="000000"/>
                </a:solidFill>
              </a:rPr>
              <a:t>architecture</a:t>
            </a:r>
            <a:r>
              <a:rPr sz="1100" spc="-10">
                <a:solidFill>
                  <a:srgbClr val="000000"/>
                </a:solidFill>
              </a:rPr>
              <a:t> visuals.</a:t>
            </a:r>
            <a:endParaRPr sz="1100"/>
          </a:p>
        </p:txBody>
      </p:sp>
      <p:grpSp>
        <p:nvGrpSpPr>
          <p:cNvPr id="4" name="object 4"/>
          <p:cNvGrpSpPr/>
          <p:nvPr/>
        </p:nvGrpSpPr>
        <p:grpSpPr>
          <a:xfrm>
            <a:off x="1745835" y="1023900"/>
            <a:ext cx="2268855" cy="1704339"/>
            <a:chOff x="1745835" y="1023900"/>
            <a:chExt cx="2268855" cy="1704339"/>
          </a:xfrm>
        </p:grpSpPr>
        <p:sp>
          <p:nvSpPr>
            <p:cNvPr id="5" name="object 5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2257133" y="0"/>
                  </a:lnTo>
                </a:path>
                <a:path w="2257425" h="1692910">
                  <a:moveTo>
                    <a:pt x="2257133" y="1692850"/>
                  </a:moveTo>
                  <a:lnTo>
                    <a:pt x="0" y="0"/>
                  </a:lnTo>
                </a:path>
                <a:path w="2257425" h="1692910">
                  <a:moveTo>
                    <a:pt x="1128566" y="1692850"/>
                  </a:moveTo>
                  <a:lnTo>
                    <a:pt x="1128566" y="0"/>
                  </a:lnTo>
                </a:path>
                <a:path w="2257425" h="1692910">
                  <a:moveTo>
                    <a:pt x="0" y="846425"/>
                  </a:moveTo>
                  <a:lnTo>
                    <a:pt x="2257133" y="846425"/>
                  </a:lnTo>
                </a:path>
              </a:pathLst>
            </a:custGeom>
            <a:ln w="562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ln w="11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38490" y="1526998"/>
            <a:ext cx="108331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-10">
                <a:latin typeface="Arial Narrow"/>
                <a:cs typeface="Arial Narrow"/>
              </a:rPr>
              <a:t>Image</a:t>
            </a:r>
            <a:endParaRPr sz="355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9218" y="2843789"/>
            <a:ext cx="1802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130" dirty="0">
                <a:latin typeface="Century Gothic"/>
                <a:cs typeface="Century Gothic"/>
              </a:rPr>
              <a:t>Data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Flow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105" dirty="0">
                <a:latin typeface="Century Gothic"/>
                <a:cs typeface="Century Gothic"/>
              </a:rPr>
              <a:t>Diagram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55" dirty="0">
                <a:latin typeface="Century Gothic"/>
                <a:cs typeface="Century Gothic"/>
              </a:rPr>
              <a:t>(DFD)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93" y="3105963"/>
            <a:ext cx="165554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019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u="sng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8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2C9AD9-39AA-1DE5-6778-B1B59DDDD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81" b="6051"/>
          <a:stretch/>
        </p:blipFill>
        <p:spPr>
          <a:xfrm>
            <a:off x="45963" y="459584"/>
            <a:ext cx="5582677" cy="260601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AIORI</a:t>
            </a:r>
            <a:r>
              <a:rPr sz="600" b="1" spc="4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5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30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Deployment</a:t>
            </a:r>
            <a:r>
              <a:rPr sz="600" b="1" spc="-35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Timeline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704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95">
                <a:solidFill>
                  <a:srgbClr val="0000DC"/>
                </a:solidFill>
                <a:latin typeface="Century Gothic"/>
                <a:cs typeface="Century Gothic"/>
              </a:rPr>
              <a:t>Deployment</a:t>
            </a:r>
            <a:r>
              <a:rPr sz="1400" b="1" spc="-2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>
                <a:solidFill>
                  <a:srgbClr val="0000DC"/>
                </a:solidFill>
                <a:latin typeface="Century Gothic"/>
                <a:cs typeface="Century Gothic"/>
              </a:rPr>
              <a:t>Timeline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133" y="730181"/>
            <a:ext cx="2583891" cy="2626104"/>
          </a:xfrm>
          <a:prstGeom prst="rect">
            <a:avLst/>
          </a:prstGeom>
        </p:spPr>
        <p:txBody>
          <a:bodyPr vert="horz" wrap="square" lIns="0" tIns="11430" rIns="0" bIns="0" numCol="1" rtlCol="0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b="1" dirty="0">
                <a:latin typeface="Century Gothic"/>
                <a:cs typeface="Century Gothic"/>
              </a:rPr>
              <a:t>Phase 1: Core Engine &amp; Testing (Months 1–2)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Set up the offline scanning system, test automated privacy masking (ID numbers, PAN), and process large test drives (500GB+).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​</a:t>
            </a:r>
            <a:r>
              <a:rPr lang="en-US" sz="900" b="1" dirty="0">
                <a:latin typeface="Century Gothic"/>
                <a:cs typeface="Century Gothic"/>
              </a:rPr>
              <a:t>Phase 2: Security &amp; Tamper-Proofing (Month 3)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Audit blockchain contracts and integrate official digital timestamps to guarantee files cannot be altered.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​</a:t>
            </a:r>
            <a:r>
              <a:rPr lang="en-US" sz="900" b="1" dirty="0">
                <a:latin typeface="Century Gothic"/>
                <a:cs typeface="Century Gothic"/>
              </a:rPr>
              <a:t>Phase 3: Real-World Trials (Months 4–5)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Run pilot trials in forensic labs to generate and verify legal court certificates (Section 63 BSA) on actual case samples.</a:t>
            </a:r>
          </a:p>
          <a:p>
            <a:pPr marL="12700" marR="5080" algn="l">
              <a:lnSpc>
                <a:spcPct val="102600"/>
              </a:lnSpc>
              <a:spcBef>
                <a:spcPts val="1000"/>
              </a:spcBef>
            </a:pPr>
            <a:r>
              <a:rPr lang="en-US" sz="900" dirty="0">
                <a:latin typeface="Century Gothic"/>
                <a:cs typeface="Century Gothic"/>
              </a:rPr>
              <a:t>​</a:t>
            </a:r>
            <a:endParaRPr lang="en-IN" sz="9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9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6F714-DB61-3BDC-9F68-4556375A8F95}"/>
              </a:ext>
            </a:extLst>
          </p:cNvPr>
          <p:cNvSpPr txBox="1"/>
          <p:nvPr/>
        </p:nvSpPr>
        <p:spPr>
          <a:xfrm>
            <a:off x="2921616" y="677073"/>
            <a:ext cx="287657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​Phase 4: Full Deployment  (Month 6+)</a:t>
            </a:r>
          </a:p>
          <a:p>
            <a:endParaRPr lang="en-US" sz="900" dirty="0"/>
          </a:p>
          <a:p>
            <a:r>
              <a:rPr lang="en-US" sz="900" dirty="0"/>
              <a:t>Connect the platform directly to national police and court databases (CCTNS / e-Courts) for seamless nationwide access.</a:t>
            </a:r>
          </a:p>
          <a:p>
            <a:endParaRPr lang="en-US" sz="900" dirty="0"/>
          </a:p>
          <a:p>
            <a:r>
              <a:rPr lang="en-US" sz="900" b="1" dirty="0"/>
              <a:t>Phase 5: Officer Training (Month 7–8)</a:t>
            </a:r>
          </a:p>
          <a:p>
            <a:endParaRPr lang="en-US" sz="900" b="1" dirty="0"/>
          </a:p>
          <a:p>
            <a:r>
              <a:rPr lang="en-US" sz="900" dirty="0"/>
              <a:t>Conduct hands-on training workshops for investigating officers and forensic lab staff to streamline daily evidence handling.</a:t>
            </a:r>
          </a:p>
          <a:p>
            <a:endParaRPr lang="en-US" sz="900" dirty="0"/>
          </a:p>
          <a:p>
            <a:r>
              <a:rPr lang="en-US" sz="900" b="1" dirty="0"/>
              <a:t>​Phase 6: Auditing &amp; Maintenance (Month 9+)</a:t>
            </a:r>
          </a:p>
          <a:p>
            <a:endParaRPr lang="en-US" sz="900" b="1" dirty="0"/>
          </a:p>
          <a:p>
            <a:r>
              <a:rPr lang="en-US" sz="900" dirty="0"/>
              <a:t>Perform quarterly cryptographic audits, update PII detection models for new document types, and ensure ongoing DPDPA compliance.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593D013A-D80C-8E11-7C1F-5B234AEDC293}"/>
              </a:ext>
            </a:extLst>
          </p:cNvPr>
          <p:cNvSpPr txBox="1"/>
          <p:nvPr/>
        </p:nvSpPr>
        <p:spPr>
          <a:xfrm>
            <a:off x="239293" y="3105963"/>
            <a:ext cx="165554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019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u="sng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16997"/>
            <a:ext cx="500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Bibliography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98244"/>
            <a:ext cx="11150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Bibliography</a:t>
            </a:r>
            <a:r>
              <a:rPr spc="-20" dirty="0"/>
              <a:t> 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10</a:t>
            </a:fld>
            <a:r>
              <a:rPr spc="5"/>
              <a:t> </a:t>
            </a:r>
            <a:r>
              <a:t>/</a:t>
            </a:r>
            <a:r>
              <a:rPr spc="10"/>
              <a:t> </a:t>
            </a:r>
            <a:r>
              <a:rPr spc="-25"/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3C62CD-244B-EFAD-816C-12CB9D3200C5}"/>
              </a:ext>
            </a:extLst>
          </p:cNvPr>
          <p:cNvSpPr txBox="1"/>
          <p:nvPr/>
        </p:nvSpPr>
        <p:spPr>
          <a:xfrm>
            <a:off x="173253" y="543560"/>
            <a:ext cx="53283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1. RFC 3161 — Trusted Digital Timestamping (IETF)</a:t>
            </a:r>
          </a:p>
          <a:p>
            <a:endParaRPr lang="en-IN" sz="900" dirty="0"/>
          </a:p>
          <a:p>
            <a:r>
              <a:rPr lang="en-IN" sz="900" dirty="0"/>
              <a:t>Provides tamper-proof cryptographic timestamps to verify the exact creation time of evidence.</a:t>
            </a:r>
          </a:p>
          <a:p>
            <a:endParaRPr lang="en-IN" sz="900" dirty="0"/>
          </a:p>
          <a:p>
            <a:r>
              <a:rPr lang="en-IN" sz="900" dirty="0"/>
              <a:t>​</a:t>
            </a:r>
            <a:r>
              <a:rPr lang="en-IN" sz="900" b="1" dirty="0"/>
              <a:t>2. Microsoft  Presidio — Context-Aware PII Masking</a:t>
            </a:r>
          </a:p>
          <a:p>
            <a:endParaRPr lang="en-IN" sz="900" dirty="0"/>
          </a:p>
          <a:p>
            <a:r>
              <a:rPr lang="en-IN" sz="900" dirty="0"/>
              <a:t>Open-source NER framework adapted for automatic detection and redaction of Indian IDs (Aadhaar, PAN).</a:t>
            </a:r>
          </a:p>
          <a:p>
            <a:endParaRPr lang="en-IN" sz="900" dirty="0"/>
          </a:p>
          <a:p>
            <a:r>
              <a:rPr lang="en-IN" sz="900" b="1" dirty="0"/>
              <a:t>​3. ISO/IEC 27037 — Digital Evidence Handling</a:t>
            </a:r>
          </a:p>
          <a:p>
            <a:endParaRPr lang="en-IN" sz="900" dirty="0"/>
          </a:p>
          <a:p>
            <a:r>
              <a:rPr lang="en-IN" sz="900" dirty="0"/>
              <a:t>International guidelines followed for secure collection, integrity preservation, and chain-of-custody tracking.</a:t>
            </a:r>
          </a:p>
          <a:p>
            <a:endParaRPr lang="en-IN" sz="900" b="1" dirty="0"/>
          </a:p>
          <a:p>
            <a:r>
              <a:rPr lang="en-IN" sz="900" b="1" dirty="0"/>
              <a:t>​4. BSA 2023 (Section 63) — Court Admissibility Framework</a:t>
            </a:r>
          </a:p>
          <a:p>
            <a:endParaRPr lang="en-IN" sz="900" b="1" dirty="0"/>
          </a:p>
          <a:p>
            <a:r>
              <a:rPr lang="en-IN" sz="900" dirty="0"/>
              <a:t>Statutory legal standards implemented to generate automated, compliant digital evidence certificates.</a:t>
            </a: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55B5B36-34EC-9BF9-A297-7B8F9B68A002}"/>
              </a:ext>
            </a:extLst>
          </p:cNvPr>
          <p:cNvSpPr txBox="1"/>
          <p:nvPr/>
        </p:nvSpPr>
        <p:spPr>
          <a:xfrm>
            <a:off x="239293" y="3105963"/>
            <a:ext cx="165554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A</a:t>
            </a:r>
            <a:r>
              <a:rPr sz="600" spc="-60" dirty="0">
                <a:solidFill>
                  <a:srgbClr val="0000DC"/>
                </a:solidFill>
                <a:latin typeface="Century Gothic"/>
                <a:cs typeface="Century Gothic"/>
              </a:rPr>
              <a:t>.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Bharti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PS</a:t>
            </a:r>
            <a:r>
              <a:rPr lang="en-IN"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019</a:t>
            </a:r>
            <a:r>
              <a:rPr sz="600" b="1" u="sng" spc="-10" dirty="0">
                <a:solidFill>
                  <a:srgbClr val="0000DC"/>
                </a:solidFill>
                <a:latin typeface="Century Gothic"/>
                <a:cs typeface="Century Gothic"/>
              </a:rPr>
              <a:t>-</a:t>
            </a:r>
            <a:r>
              <a:rPr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TC0</a:t>
            </a:r>
            <a:r>
              <a:rPr lang="en-IN" sz="600" b="1" u="sng" dirty="0">
                <a:solidFill>
                  <a:srgbClr val="0000DC"/>
                </a:solidFill>
                <a:latin typeface="Century Gothic"/>
                <a:cs typeface="Century Gothic"/>
              </a:rPr>
              <a:t>72</a:t>
            </a:r>
            <a:r>
              <a:rPr sz="600" b="1" u="sng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5,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79" y="123671"/>
            <a:ext cx="4419361" cy="886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2800" b="1" spc="-60" dirty="0">
                <a:latin typeface="Century Gothic"/>
                <a:cs typeface="Century Gothic"/>
              </a:rPr>
              <a:t>          </a:t>
            </a:r>
            <a:r>
              <a:rPr sz="2800" b="1" spc="-60" dirty="0">
                <a:solidFill>
                  <a:schemeClr val="tx2"/>
                </a:solidFill>
                <a:latin typeface="Century Gothic"/>
                <a:cs typeface="Century Gothic"/>
              </a:rPr>
              <a:t>Thank</a:t>
            </a:r>
            <a:r>
              <a:rPr sz="2800" b="1" dirty="0">
                <a:solidFill>
                  <a:schemeClr val="tx2"/>
                </a:solidFill>
                <a:latin typeface="Century Gothic"/>
                <a:cs typeface="Century Gothic"/>
              </a:rPr>
              <a:t> </a:t>
            </a:r>
            <a:r>
              <a:rPr sz="2800" b="1" spc="-130" dirty="0">
                <a:solidFill>
                  <a:schemeClr val="tx2"/>
                </a:solidFill>
                <a:latin typeface="Century Gothic"/>
                <a:cs typeface="Century Gothic"/>
              </a:rPr>
              <a:t>You</a:t>
            </a:r>
            <a:r>
              <a:rPr sz="2800" b="1" spc="-55" dirty="0">
                <a:solidFill>
                  <a:schemeClr val="tx2"/>
                </a:solidFill>
                <a:latin typeface="Century Gothic"/>
                <a:cs typeface="Century Gothic"/>
              </a:rPr>
              <a:t>!</a:t>
            </a:r>
            <a:endParaRPr lang="en-IN" sz="2800" b="1" spc="-55" dirty="0">
              <a:solidFill>
                <a:schemeClr val="tx2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2800" b="1" spc="-55" dirty="0">
                <a:solidFill>
                  <a:schemeClr val="tx2">
                    <a:lumMod val="60000"/>
                    <a:lumOff val="40000"/>
                  </a:schemeClr>
                </a:solidFill>
                <a:latin typeface="Century Gothic"/>
                <a:cs typeface="Century Gothic"/>
              </a:rPr>
              <a:t>Questions &amp; Discussion</a:t>
            </a:r>
            <a:endParaRPr sz="2800" b="1" dirty="0">
              <a:solidFill>
                <a:schemeClr val="tx2">
                  <a:lumMod val="60000"/>
                  <a:lumOff val="40000"/>
                </a:schemeClr>
              </a:solidFill>
              <a:latin typeface="Century Gothic"/>
              <a:cs typeface="Century Gothic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B5F947-189E-194A-B3AD-9A0DC944F49C}"/>
              </a:ext>
            </a:extLst>
          </p:cNvPr>
          <p:cNvCxnSpPr>
            <a:cxnSpLocks/>
          </p:cNvCxnSpPr>
          <p:nvPr/>
        </p:nvCxnSpPr>
        <p:spPr>
          <a:xfrm>
            <a:off x="474980" y="1050451"/>
            <a:ext cx="478028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F174D2D-396B-3591-B0C5-B74C9F0208B5}"/>
              </a:ext>
            </a:extLst>
          </p:cNvPr>
          <p:cNvSpPr txBox="1"/>
          <p:nvPr/>
        </p:nvSpPr>
        <p:spPr>
          <a:xfrm>
            <a:off x="462519" y="1179835"/>
            <a:ext cx="5003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NDEMS: National Digital Evidence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41BC7-E5AC-FEBD-66FF-321AB2D689B8}"/>
              </a:ext>
            </a:extLst>
          </p:cNvPr>
          <p:cNvSpPr txBox="1"/>
          <p:nvPr/>
        </p:nvSpPr>
        <p:spPr>
          <a:xfrm>
            <a:off x="685800" y="1422400"/>
            <a:ext cx="508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Tamper-Proof Digital Forensics with Dual-Certificate BSA 2023 &amp; DPDPA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05C17-6741-0DFD-9E7C-0C38A22BE55A}"/>
              </a:ext>
            </a:extLst>
          </p:cNvPr>
          <p:cNvSpPr txBox="1"/>
          <p:nvPr/>
        </p:nvSpPr>
        <p:spPr>
          <a:xfrm>
            <a:off x="193040" y="2021840"/>
            <a:ext cx="2219960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b="1" dirty="0"/>
              <a:t>Team Code </a:t>
            </a:r>
            <a:r>
              <a:rPr lang="en-IN" sz="1100" b="1" dirty="0"/>
              <a:t>– </a:t>
            </a:r>
            <a:r>
              <a:rPr lang="en-IN" sz="900" dirty="0"/>
              <a:t>A3-PS019-TC072</a:t>
            </a:r>
          </a:p>
          <a:p>
            <a:endParaRPr lang="en-IN" sz="900" dirty="0"/>
          </a:p>
          <a:p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Team Lead: </a:t>
            </a:r>
            <a:r>
              <a:rPr lang="en-IN" sz="900" dirty="0"/>
              <a:t>Arun Bharti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Team Member: </a:t>
            </a:r>
            <a:r>
              <a:rPr lang="en-IN" sz="900" dirty="0"/>
              <a:t>Anushka Pandit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Faculty Mentor: </a:t>
            </a:r>
            <a:r>
              <a:rPr lang="en-IN" sz="1000" dirty="0"/>
              <a:t> </a:t>
            </a:r>
            <a:r>
              <a:rPr lang="en-IN" sz="900" dirty="0"/>
              <a:t>Mr. Vishal Bhatt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18C89C-8B89-0A43-E50A-F0B12CE5B84C}"/>
              </a:ext>
            </a:extLst>
          </p:cNvPr>
          <p:cNvCxnSpPr>
            <a:cxnSpLocks/>
          </p:cNvCxnSpPr>
          <p:nvPr/>
        </p:nvCxnSpPr>
        <p:spPr>
          <a:xfrm>
            <a:off x="302260" y="2320451"/>
            <a:ext cx="20548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893A2C-8919-C1AA-419F-E7C3098984D5}"/>
              </a:ext>
            </a:extLst>
          </p:cNvPr>
          <p:cNvSpPr txBox="1"/>
          <p:nvPr/>
        </p:nvSpPr>
        <p:spPr>
          <a:xfrm>
            <a:off x="2809240" y="2021840"/>
            <a:ext cx="217424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GitHub:</a:t>
            </a:r>
          </a:p>
          <a:p>
            <a:endParaRPr lang="en-IN" sz="1000" b="1" dirty="0"/>
          </a:p>
          <a:p>
            <a:r>
              <a:rPr lang="en-IN" sz="900" dirty="0"/>
              <a:t>https://github.com/arunpbt1025/ndems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93DFE9-6340-BF69-9A1D-3E2413FEAC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" t="29589" r="3400" b="28488"/>
          <a:stretch/>
        </p:blipFill>
        <p:spPr>
          <a:xfrm>
            <a:off x="4950460" y="2433442"/>
            <a:ext cx="739140" cy="73853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791</Words>
  <Application>Microsoft Office PowerPoint</Application>
  <PresentationFormat>Custom</PresentationFormat>
  <Paragraphs>123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Batang</vt:lpstr>
      <vt:lpstr>Aptos</vt:lpstr>
      <vt:lpstr>Arial</vt:lpstr>
      <vt:lpstr>Arial Narrow</vt:lpstr>
      <vt:lpstr>Calibri</vt:lpstr>
      <vt:lpstr>Century Gothic</vt:lpstr>
      <vt:lpstr>Office Theme</vt:lpstr>
      <vt:lpstr>A3-PS019-TC072 NDEMS: National Digital Evidence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Diagram Overview of the architecture. Include the flow chart diagram created earlier. Visual: Diagrams or architecture visuals.</vt:lpstr>
      <vt:lpstr>PowerPoint Presentation</vt:lpstr>
      <vt:lpstr>Bibliography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A3-PS001-TC001 - Android Ransomware-like Activity Early Warning in a Controlled Lab</dc:title>
  <dc:subject>Presentation Subject</dc:subject>
  <dc:creator>John Doe, personal-id@some.mail.com</dc:creator>
  <cp:keywords>the, presentation, keywords</cp:keywords>
  <cp:lastModifiedBy>Arun Gautam</cp:lastModifiedBy>
  <cp:revision>2</cp:revision>
  <dcterms:created xsi:type="dcterms:W3CDTF">2026-10-10T14:01:31Z</dcterms:created>
  <dcterms:modified xsi:type="dcterms:W3CDTF">2026-10-10T23:27:53Z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